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11480"/>
            <a:ext cx="1600200" cy="60674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115568"/>
            <a:ext cx="69494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Aptos"/>
              </a:rPr>
              <a:t>Command Piping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6858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EE5F1"/>
                </a:solidFill>
                <a:latin typeface="Aptos"/>
              </a:rPr>
              <a:t>Operating Systems &amp; System Programming –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40280"/>
            <a:ext cx="6492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EE5F1"/>
                </a:solidFill>
                <a:latin typeface="Aptos"/>
              </a:rPr>
              <a:t>Detailed Project Implementation &amp; Working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063240"/>
            <a:ext cx="512064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26440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C52"/>
                </a:solidFill>
                <a:latin typeface="Aptos"/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557016"/>
            <a:ext cx="4526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1F2A3D"/>
                </a:solidFill>
                <a:latin typeface="Aptos"/>
              </a:rPr>
              <a:t>2510030145 – IVATURI NAGA MOHITH
2510030115 – PEDDI INDRA KIRAN REDDY
2510030200 – CH HARSHITH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697480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Two-command shell-style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246120"/>
            <a:ext cx="1508760" cy="804672"/>
          </a:xfrm>
          <a:prstGeom prst="roundRect">
            <a:avLst/>
          </a:prstGeom>
          <a:solidFill>
            <a:srgbClr val="F1F6FF"/>
          </a:solidFill>
          <a:ln w="16510"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68312" y="3355848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B2C52"/>
                </a:solidFill>
                <a:latin typeface="Aptos"/>
              </a:rPr>
              <a:t>COMMAND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3721608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writes STDOUT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6528" y="3246120"/>
            <a:ext cx="1508760" cy="804672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3355848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B2C52"/>
                </a:solidFill>
                <a:latin typeface="Aptos"/>
              </a:rPr>
              <a:t>PIPE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7" y="3721608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anonymous IPC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320" y="3246120"/>
            <a:ext cx="1188720" cy="804672"/>
          </a:xfrm>
          <a:prstGeom prst="roundRect">
            <a:avLst/>
          </a:prstGeom>
          <a:solidFill>
            <a:srgbClr val="EFF9F4"/>
          </a:solidFill>
          <a:ln w="16510"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34472" y="3355848"/>
            <a:ext cx="10424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COMMAND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372160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reads STDIN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3920" y="3648456"/>
            <a:ext cx="292608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305288" y="3648456"/>
            <a:ext cx="256032" cy="0"/>
          </a:xfrm>
          <a:prstGeom prst="line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03720" y="4315968"/>
            <a:ext cx="4983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Command 1 → pipe() → fork() → dup2() → execvp() → Command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6355080"/>
            <a:ext cx="24231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D7DEEB"/>
                </a:solidFill>
                <a:latin typeface="Aptos"/>
              </a:rPr>
              <a:t>KLH Deemed to be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1. Problem Statement &amp; Initial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960120"/>
            <a:ext cx="5166360" cy="1847088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960120"/>
            <a:ext cx="64008" cy="1847088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4855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90472"/>
            <a:ext cx="485546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60" b="0">
                <a:solidFill>
                  <a:srgbClr val="1F2A3D"/>
                </a:solidFill>
                <a:latin typeface="Aptos"/>
              </a:rPr>
              <a:t>Shell-style piping connects the output of one process to the input of another. Implementing the same behavior in C requires explicit inter-process communication and file-descriptor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5166360" cy="205740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64008" cy="2057400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855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93592"/>
            <a:ext cx="4855464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40" b="0">
                <a:solidFill>
                  <a:srgbClr val="1F2A3D"/>
                </a:solidFill>
                <a:latin typeface="Aptos"/>
              </a:rPr>
              <a:t>Build a C-based tool that creates an anonymous pipe, forks two child processes, redirects STDOUT/STDIN with dup2(), runs commands with execvp(), and waits for both children.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94183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C52"/>
                </a:solidFill>
                <a:latin typeface="Aptos"/>
              </a:rPr>
              <a:t>SYSTEM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17320"/>
            <a:ext cx="1325880" cy="749808"/>
          </a:xfrm>
          <a:prstGeom prst="roundRect">
            <a:avLst/>
          </a:prstGeom>
          <a:solidFill>
            <a:srgbClr val="F5F8FD"/>
          </a:solidFill>
          <a:ln w="16510"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527048"/>
            <a:ext cx="11795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92808"/>
            <a:ext cx="114300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two commands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417320"/>
            <a:ext cx="1737360" cy="749808"/>
          </a:xfrm>
          <a:prstGeom prst="roundRect">
            <a:avLst/>
          </a:prstGeom>
          <a:solidFill>
            <a:srgbClr val="F4F6FA"/>
          </a:solidFill>
          <a:ln w="16510">
            <a:solidFill>
              <a:srgbClr val="1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527048"/>
            <a:ext cx="15910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PARENT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1892808"/>
            <a:ext cx="155448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create + orchestrate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005840"/>
            <a:ext cx="1325880" cy="749808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14432" y="1115568"/>
            <a:ext cx="11795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CHILD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9" y="1481328"/>
            <a:ext cx="114300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Command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920240"/>
            <a:ext cx="1325880" cy="749808"/>
          </a:xfrm>
          <a:prstGeom prst="roundRect">
            <a:avLst/>
          </a:prstGeom>
          <a:solidFill>
            <a:srgbClr val="EFF9F4"/>
          </a:solidFill>
          <a:ln w="16510"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14432" y="2029968"/>
            <a:ext cx="11795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CHILD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9" y="2395728"/>
            <a:ext cx="114300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Command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2971800"/>
            <a:ext cx="2240280" cy="777240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3081528"/>
            <a:ext cx="20939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ANONYMOUS PIPE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44728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STDOUT → STDIN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26679" y="1792224"/>
            <a:ext cx="457200" cy="0"/>
          </a:xfrm>
          <a:prstGeom prst="line">
            <a:avLst/>
          </a:prstGeom>
          <a:ln w="29209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921240" y="1380744"/>
            <a:ext cx="320040" cy="228600"/>
          </a:xfrm>
          <a:prstGeom prst="line">
            <a:avLst/>
          </a:prstGeom>
          <a:ln w="27940">
            <a:solidFill>
              <a:srgbClr val="E58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21240" y="1965960"/>
            <a:ext cx="320040" cy="320040"/>
          </a:xfrm>
          <a:prstGeom prst="line">
            <a:avLst/>
          </a:prstGeom>
          <a:ln w="27940">
            <a:solidFill>
              <a:srgbClr val="2D9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9528048" y="1755648"/>
            <a:ext cx="1353312" cy="1216152"/>
          </a:xfrm>
          <a:prstGeom prst="line">
            <a:avLst/>
          </a:prstGeom>
          <a:ln w="22860">
            <a:solidFill>
              <a:srgbClr val="E58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528048" y="1920240"/>
            <a:ext cx="1353312" cy="1828799"/>
          </a:xfrm>
          <a:prstGeom prst="line">
            <a:avLst/>
          </a:prstGeom>
          <a:ln w="22860">
            <a:solidFill>
              <a:srgbClr val="2D9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19088" y="4160520"/>
            <a:ext cx="5257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A3D"/>
                </a:solidFill>
                <a:latin typeface="Aptos"/>
              </a:rPr>
              <a:t>Scope: two-command pipeline implementation using POSIX/Linux C system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2. User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HOW THE USER USES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5257800" cy="1225296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64008" cy="1225296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43000"/>
            <a:ext cx="49469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Step 1 —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494690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F2A3D"/>
                </a:solidFill>
                <a:latin typeface="Aptos"/>
              </a:rPr>
              <a:t>Run the C program in a Unix/Linux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32304"/>
            <a:ext cx="5257800" cy="141732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432304"/>
            <a:ext cx="64008" cy="1417320"/>
          </a:xfrm>
          <a:prstGeom prst="rect">
            <a:avLst/>
          </a:prstGeom>
          <a:solidFill>
            <a:srgbClr val="E58727"/>
          </a:solidFill>
          <a:ln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69464"/>
            <a:ext cx="49469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Step 2 — Enter the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62656"/>
            <a:ext cx="4946904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30" b="0">
                <a:solidFill>
                  <a:srgbClr val="1F2A3D"/>
                </a:solidFill>
                <a:latin typeface="Aptos"/>
              </a:rPr>
              <a:t>Specify the first command and the second command that should be connected by the pipe symbol.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69080"/>
            <a:ext cx="5257800" cy="137160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069080"/>
            <a:ext cx="64008" cy="1371600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49469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Step 3 — Observe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99432"/>
            <a:ext cx="494690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2A3D"/>
                </a:solidFill>
                <a:latin typeface="Aptos"/>
              </a:rPr>
              <a:t>The tool creates the processes, redirects descriptors, executes both commands, and prints the final output from Command 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996696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C52"/>
                </a:solidFill>
                <a:latin typeface="Aptos"/>
              </a:rPr>
              <a:t>SAMPLE INTERACTION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1417320"/>
            <a:ext cx="5166360" cy="4041648"/>
          </a:xfrm>
          <a:prstGeom prst="roundRect">
            <a:avLst/>
          </a:prstGeom>
          <a:solidFill>
            <a:srgbClr val="212631"/>
          </a:solidFill>
          <a:ln w="13970"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1563624"/>
            <a:ext cx="4837176" cy="3767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ourier New"/>
              </a:rPr>
              <a:t>COMMAND PIPING TOOL
Command 1: ls -l
Command 2: grep .c
Creating anonymous pipe...
Forking child 1...
Forking child 2...
Redirecting STDOUT → pipe
Redirecting STDIN  ← pipe
Executing commands...
Final output:
-rw-r--r--  ...  sample.c
-rw-r--r--  ...  main.c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557784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565F70"/>
                </a:solidFill>
                <a:latin typeface="Aptos"/>
              </a:rPr>
              <a:t>The exact listing depends on the files present in the directory.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3. Core Concepts: Pipe, fork, dup2 &amp; execvp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960120"/>
            <a:ext cx="2606040" cy="1719072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960120"/>
            <a:ext cx="64008" cy="1719072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097280"/>
            <a:ext cx="22951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C52"/>
                </a:solidFill>
                <a:latin typeface="Aptos"/>
              </a:rPr>
              <a:t>Anonymous Pipe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490472"/>
            <a:ext cx="2295144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pipe(pfd) creates a kernel buffer with a read end pfd[0] and write end pfd[1].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960120"/>
            <a:ext cx="2606040" cy="1719072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960120"/>
            <a:ext cx="64008" cy="1719072"/>
          </a:xfrm>
          <a:prstGeom prst="rect">
            <a:avLst/>
          </a:prstGeom>
          <a:solidFill>
            <a:srgbClr val="E58727"/>
          </a:solidFill>
          <a:ln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097280"/>
            <a:ext cx="22951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C52"/>
                </a:solidFill>
                <a:latin typeface="Aptos"/>
              </a:rPr>
              <a:t>Process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490472"/>
            <a:ext cx="2295144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fork() creates the child processes that run Command 1 and Command 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61888" y="960120"/>
            <a:ext cx="2606040" cy="1719072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1888" y="960120"/>
            <a:ext cx="64008" cy="1719072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097280"/>
            <a:ext cx="22951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C52"/>
                </a:solidFill>
                <a:latin typeface="Aptos"/>
              </a:rPr>
              <a:t>I/O Redirection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1490472"/>
            <a:ext cx="2295144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dup2() rewires standard output/input to the correct pipe descriptor.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77656" y="960120"/>
            <a:ext cx="2606040" cy="1719072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77656" y="960120"/>
            <a:ext cx="64008" cy="1719072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6" y="1097280"/>
            <a:ext cx="22951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C52"/>
                </a:solidFill>
                <a:latin typeface="Aptos"/>
              </a:rPr>
              <a:t>Command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1490472"/>
            <a:ext cx="2295144" cy="1106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execvp() replaces each child process with its assigned Linux command.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0632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C52"/>
                </a:solidFill>
                <a:latin typeface="Aptos"/>
              </a:rPr>
              <a:t>HOW THE CONCEPTS FIT TOGETHER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03320"/>
            <a:ext cx="1920240" cy="822960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813048"/>
            <a:ext cx="17739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B2C52"/>
                </a:solidFill>
                <a:latin typeface="Aptos"/>
              </a:rPr>
              <a:t>Command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788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produces output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51760" y="4114800"/>
            <a:ext cx="594360" cy="0"/>
          </a:xfrm>
          <a:prstGeom prst="line">
            <a:avLst/>
          </a:prstGeom>
          <a:ln w="3429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429000" y="3703320"/>
            <a:ext cx="1965960" cy="822960"/>
          </a:xfrm>
          <a:prstGeom prst="roundRect">
            <a:avLst/>
          </a:prstGeom>
          <a:solidFill>
            <a:srgbClr val="F1F6FF"/>
          </a:solidFill>
          <a:ln w="16510"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2152" y="3813048"/>
            <a:ext cx="1819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B2C52"/>
                </a:solidFill>
                <a:latin typeface="Aptos"/>
              </a:rPr>
              <a:t>pipe()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17880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kernel IPC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40680" y="4114800"/>
            <a:ext cx="594360" cy="0"/>
          </a:xfrm>
          <a:prstGeom prst="line">
            <a:avLst/>
          </a:prstGeom>
          <a:ln w="3429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0" y="3703320"/>
            <a:ext cx="2057400" cy="822960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3813048"/>
            <a:ext cx="19110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B2C52"/>
                </a:solidFill>
                <a:latin typeface="Aptos"/>
              </a:rPr>
              <a:t>dup2()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17880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STDOUT → STDIN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21040" y="4114800"/>
            <a:ext cx="594360" cy="0"/>
          </a:xfrm>
          <a:prstGeom prst="line">
            <a:avLst/>
          </a:prstGeom>
          <a:ln w="3429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098280" y="3703320"/>
            <a:ext cx="1965960" cy="822960"/>
          </a:xfrm>
          <a:prstGeom prst="roundRect">
            <a:avLst/>
          </a:prstGeom>
          <a:solidFill>
            <a:srgbClr val="EFF9F4"/>
          </a:solidFill>
          <a:ln w="16510"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1432" y="3813048"/>
            <a:ext cx="1819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B2C52"/>
                </a:solidFill>
                <a:latin typeface="Aptos"/>
              </a:rPr>
              <a:t>Command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417880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consumes input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7492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A3D"/>
                </a:solidFill>
                <a:latin typeface="Aptos"/>
              </a:rPr>
              <a:t>fork() creates the two children; execvp() runs the actual commands; wait()/waitpid() synchronizes the parent.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4. Complete Implementation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C52"/>
                </a:solidFill>
                <a:latin typeface="Aptos"/>
              </a:rPr>
              <a:t>Detailed Command Pipeline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938528" cy="1170432"/>
          </a:xfrm>
          <a:prstGeom prst="roundRect">
            <a:avLst/>
          </a:prstGeom>
          <a:solidFill>
            <a:srgbClr val="F6F8FC"/>
          </a:solidFill>
          <a:ln w="16510"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984248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80" b="1">
                <a:solidFill>
                  <a:srgbClr val="1B2C52"/>
                </a:solidFill>
                <a:latin typeface="Aptos"/>
              </a:rPr>
              <a:t>1.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0008"/>
            <a:ext cx="175564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pipe(pfd)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89864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Aptos"/>
              </a:rPr>
              <a:t>Create anonymous pipe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15184" y="2459736"/>
            <a:ext cx="283464" cy="0"/>
          </a:xfrm>
          <a:prstGeom prst="line">
            <a:avLst/>
          </a:prstGeom>
          <a:ln w="2540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1874519"/>
            <a:ext cx="1938528" cy="1170432"/>
          </a:xfrm>
          <a:prstGeom prst="roundRect">
            <a:avLst/>
          </a:prstGeom>
          <a:solidFill>
            <a:srgbClr val="F6F8FC"/>
          </a:solidFill>
          <a:ln w="16510"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1984248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80" b="1">
                <a:solidFill>
                  <a:srgbClr val="1B2C52"/>
                </a:solidFill>
                <a:latin typeface="Aptos"/>
              </a:rPr>
              <a:t>2. FORK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350008"/>
            <a:ext cx="175564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child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89864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Aptos"/>
              </a:rPr>
              <a:t>Redirect STDOUT → pfd[1]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82896" y="2459736"/>
            <a:ext cx="283464" cy="0"/>
          </a:xfrm>
          <a:prstGeom prst="line">
            <a:avLst/>
          </a:prstGeom>
          <a:ln w="2540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93792" y="1874519"/>
            <a:ext cx="1938528" cy="1170432"/>
          </a:xfrm>
          <a:prstGeom prst="roundRect">
            <a:avLst/>
          </a:prstGeom>
          <a:solidFill>
            <a:srgbClr val="F6F8FC"/>
          </a:solidFill>
          <a:ln w="16510"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1984248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80" b="1">
                <a:solidFill>
                  <a:srgbClr val="1B2C52"/>
                </a:solidFill>
                <a:latin typeface="Aptos"/>
              </a:rPr>
              <a:t>3. EXEC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2350008"/>
            <a:ext cx="175564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execvp()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89864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Aptos"/>
              </a:rPr>
              <a:t>Run Command 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0608" y="2459736"/>
            <a:ext cx="283463" cy="0"/>
          </a:xfrm>
          <a:prstGeom prst="line">
            <a:avLst/>
          </a:prstGeom>
          <a:ln w="2540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61504" y="1874519"/>
            <a:ext cx="1938528" cy="1170432"/>
          </a:xfrm>
          <a:prstGeom prst="roundRect">
            <a:avLst/>
          </a:prstGeom>
          <a:solidFill>
            <a:srgbClr val="F6F8FC"/>
          </a:solidFill>
          <a:ln w="16510"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1984248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80" b="1">
                <a:solidFill>
                  <a:srgbClr val="1B2C52"/>
                </a:solidFill>
                <a:latin typeface="Aptos"/>
              </a:rPr>
              <a:t>4. FORK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350008"/>
            <a:ext cx="175564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child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289864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Aptos"/>
              </a:rPr>
              <a:t>Redirect STDIN ← pfd[0]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8320" y="2459736"/>
            <a:ext cx="283464" cy="0"/>
          </a:xfrm>
          <a:prstGeom prst="line">
            <a:avLst/>
          </a:prstGeom>
          <a:ln w="2540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29216" y="1874519"/>
            <a:ext cx="1938528" cy="1170432"/>
          </a:xfrm>
          <a:prstGeom prst="roundRect">
            <a:avLst/>
          </a:prstGeom>
          <a:solidFill>
            <a:srgbClr val="F6F8FC"/>
          </a:solidFill>
          <a:ln w="16510"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02368" y="1984248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80" b="1">
                <a:solidFill>
                  <a:srgbClr val="1B2C52"/>
                </a:solidFill>
                <a:latin typeface="Aptos"/>
              </a:rPr>
              <a:t>5. EXEC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0656" y="2350008"/>
            <a:ext cx="175564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execvp()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02368" y="289864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Aptos"/>
              </a:rPr>
              <a:t>Run Command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3931920"/>
            <a:ext cx="8366760" cy="128016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20240" y="3931920"/>
            <a:ext cx="64008" cy="1280160"/>
          </a:xfrm>
          <a:prstGeom prst="rect">
            <a:avLst/>
          </a:prstGeom>
          <a:solidFill>
            <a:srgbClr val="1B2C52"/>
          </a:solidFill>
          <a:ln>
            <a:solidFill>
              <a:srgbClr val="1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4069080"/>
            <a:ext cx="80558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C52"/>
                </a:solidFill>
                <a:latin typeface="Aptos"/>
              </a:rPr>
              <a:t>Parent process — closes &amp; waits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462272"/>
            <a:ext cx="8055864" cy="6675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2A3D"/>
                </a:solidFill>
                <a:latin typeface="Aptos"/>
              </a:rPr>
              <a:t>After both children are created, the parent closes unused pipe descriptors and calls wait()/waitpid() for both children.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5532120"/>
            <a:ext cx="8412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B2C52"/>
                </a:solidFill>
                <a:latin typeface="Aptos"/>
              </a:rPr>
              <a:t>Command 1 writes → anonymous pipe → Command 2 reads → final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5. I/O Redirection &amp; File-Descriptor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960120"/>
            <a:ext cx="5074920" cy="155448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960120"/>
            <a:ext cx="64008" cy="1554480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97280"/>
            <a:ext cx="47640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Pipe descriptors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490472"/>
            <a:ext cx="4764024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0">
                <a:solidFill>
                  <a:srgbClr val="1F2A3D"/>
                </a:solidFill>
                <a:latin typeface="Aptos"/>
              </a:rPr>
              <a:t>pfd[0] = read end
pfd[1] = write end
The kernel buffer carries bytes from the writer to the reader.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43200"/>
            <a:ext cx="5074920" cy="155448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743200"/>
            <a:ext cx="64008" cy="1554480"/>
          </a:xfrm>
          <a:prstGeom prst="rect">
            <a:avLst/>
          </a:prstGeom>
          <a:solidFill>
            <a:srgbClr val="E58727"/>
          </a:solidFill>
          <a:ln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80360"/>
            <a:ext cx="47640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Child 1 — producer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73552"/>
            <a:ext cx="4764024" cy="9418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>
                <a:solidFill>
                  <a:srgbClr val="1F2A3D"/>
                </a:solidFill>
                <a:latin typeface="Aptos"/>
              </a:rPr>
              <a:t>dup2(pfd[1], STDOUT_FILENO) makes Command 1 write into the pipe. execvp() then runs Command 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526280"/>
            <a:ext cx="5074920" cy="141732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526280"/>
            <a:ext cx="64008" cy="1417320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663440"/>
            <a:ext cx="47640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Child 2 — consumer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5056632"/>
            <a:ext cx="4764024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80" b="0">
                <a:solidFill>
                  <a:srgbClr val="1F2A3D"/>
                </a:solidFill>
                <a:latin typeface="Aptos"/>
              </a:rPr>
              <a:t>dup2(pfd[0], STDIN_FILENO) makes Command 2 read from the pipe. execvp() then runs Command 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005840"/>
            <a:ext cx="5577840" cy="2514600"/>
          </a:xfrm>
          <a:prstGeom prst="roundRect">
            <a:avLst/>
          </a:prstGeom>
          <a:solidFill>
            <a:srgbClr val="212631"/>
          </a:solidFill>
          <a:ln w="13970"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1152144"/>
            <a:ext cx="5248655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Courier New"/>
              </a:rPr>
              <a:t>int pfd[2];
pipe(pfd);
/* Child 1 */
dup2(pfd[1], STDOUT_FILENO);
execvp(cmd1[0], cmd1);
/* Child 2 */
dup2(pfd[0], STDIN_FILENO);
execvp(cmd2[0], cmd2);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3794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C52"/>
                </a:solidFill>
                <a:latin typeface="Aptos"/>
              </a:rPr>
              <a:t>DESCRIPTOR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251960"/>
            <a:ext cx="1508760" cy="777240"/>
          </a:xfrm>
          <a:prstGeom prst="roundRect">
            <a:avLst/>
          </a:prstGeom>
          <a:solidFill>
            <a:srgbClr val="FFF7ED"/>
          </a:solidFill>
          <a:ln w="16510"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4361688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B2C52"/>
                </a:solidFill>
                <a:latin typeface="Aptos"/>
              </a:rPr>
              <a:t>pfd[1]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7274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WRITE END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08392" y="4645152"/>
            <a:ext cx="630935" cy="0"/>
          </a:xfrm>
          <a:prstGeom prst="line">
            <a:avLst/>
          </a:prstGeom>
          <a:ln w="27940">
            <a:solidFill>
              <a:srgbClr val="E587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458200" y="4251960"/>
            <a:ext cx="1508760" cy="777240"/>
          </a:xfrm>
          <a:prstGeom prst="roundRect">
            <a:avLst/>
          </a:prstGeom>
          <a:solidFill>
            <a:srgbClr val="F1F6FF"/>
          </a:solidFill>
          <a:ln w="16510"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31352" y="4361688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B2C52"/>
                </a:solidFill>
                <a:latin typeface="Aptos"/>
              </a:rPr>
              <a:t>PIPE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727448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KERNEL BUFFER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40112" y="4645152"/>
            <a:ext cx="630936" cy="0"/>
          </a:xfrm>
          <a:prstGeom prst="line">
            <a:avLst/>
          </a:prstGeom>
          <a:ln w="27940">
            <a:solidFill>
              <a:srgbClr val="2D9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789920" y="4251960"/>
            <a:ext cx="685800" cy="777240"/>
          </a:xfrm>
          <a:prstGeom prst="roundRect">
            <a:avLst/>
          </a:prstGeom>
          <a:solidFill>
            <a:srgbClr val="EFF9F4"/>
          </a:solidFill>
          <a:ln w="16510"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63072" y="4361688"/>
            <a:ext cx="5394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B2C52"/>
                </a:solidFill>
                <a:latin typeface="Aptos"/>
              </a:rPr>
              <a:t>pfd[0]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472744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65F70"/>
                </a:solidFill>
                <a:latin typeface="Aptos"/>
              </a:rPr>
              <a:t>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285232"/>
            <a:ext cx="4617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30" b="0">
                <a:solidFill>
                  <a:srgbClr val="565F70"/>
                </a:solidFill>
                <a:latin typeface="Aptos"/>
              </a:rPr>
              <a:t>Child 1: STDOUT → pfd[1]
Child 2: STDIN  ← pfd[0]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6. Detailed Example: echo "hello operating system" | tr a-z A-Z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941832"/>
            <a:ext cx="3337560" cy="109728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941832"/>
            <a:ext cx="64008" cy="1097280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30266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472184"/>
            <a:ext cx="3026664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1F2A3D"/>
                </a:solidFill>
                <a:latin typeface="Aptos"/>
              </a:rPr>
              <a:t>echo "hello operating system"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941832"/>
            <a:ext cx="3337560" cy="109728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0" y="941832"/>
            <a:ext cx="64008" cy="1097280"/>
          </a:xfrm>
          <a:prstGeom prst="rect">
            <a:avLst/>
          </a:prstGeom>
          <a:solidFill>
            <a:srgbClr val="E58727"/>
          </a:solidFill>
          <a:ln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078992"/>
            <a:ext cx="30266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Pipe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472184"/>
            <a:ext cx="3026664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60" b="0">
                <a:solidFill>
                  <a:srgbClr val="1F2A3D"/>
                </a:solidFill>
                <a:latin typeface="Aptos"/>
              </a:rPr>
              <a:t>Anonymous pipe transfers the text produced by echo.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941832"/>
            <a:ext cx="3950208" cy="109728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62672" y="941832"/>
            <a:ext cx="64008" cy="1097280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1078992"/>
            <a:ext cx="36393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Command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1472184"/>
            <a:ext cx="3639312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tr a-z A-Z converts lowercase letters to uppercase.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2487168"/>
            <a:ext cx="502920" cy="502920"/>
          </a:xfrm>
          <a:prstGeom prst="ellipse">
            <a:avLst/>
          </a:prstGeom>
          <a:solidFill>
            <a:srgbClr val="1B2C52"/>
          </a:solidFill>
          <a:ln>
            <a:solidFill>
              <a:srgbClr val="1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57860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24780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B2C52"/>
                </a:solidFill>
                <a:latin typeface="Aptos"/>
              </a:rPr>
              <a:t>Execute Command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478024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echo produces: hello operating system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7552" y="3008376"/>
            <a:ext cx="0" cy="256032"/>
          </a:xfrm>
          <a:prstGeom prst="line">
            <a:avLst/>
          </a:prstGeom>
          <a:ln w="2540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31520" y="3310128"/>
            <a:ext cx="502920" cy="502920"/>
          </a:xfrm>
          <a:prstGeom prst="ellipse">
            <a:avLst/>
          </a:prstGeom>
          <a:solidFill>
            <a:srgbClr val="1B2C52"/>
          </a:solidFill>
          <a:ln>
            <a:solidFill>
              <a:srgbClr val="1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40156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33009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B2C52"/>
                </a:solidFill>
                <a:latin typeface="Aptos"/>
              </a:rPr>
              <a:t>Write to pipe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300984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Child 1 writes its STDOUT through pfd[1].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7552" y="3831336"/>
            <a:ext cx="0" cy="256032"/>
          </a:xfrm>
          <a:prstGeom prst="line">
            <a:avLst/>
          </a:prstGeom>
          <a:ln w="2540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31520" y="4133087"/>
            <a:ext cx="502920" cy="502920"/>
          </a:xfrm>
          <a:prstGeom prst="ellipse">
            <a:avLst/>
          </a:prstGeom>
          <a:solidFill>
            <a:srgbClr val="1B2C52"/>
          </a:solidFill>
          <a:ln>
            <a:solidFill>
              <a:srgbClr val="1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224527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44752" y="41239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B2C52"/>
                </a:solidFill>
                <a:latin typeface="Aptos"/>
              </a:rPr>
              <a:t>Read from pipe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123944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Child 2 reads that data through pfd[0] as STDIN.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7552" y="4654296"/>
            <a:ext cx="0" cy="256032"/>
          </a:xfrm>
          <a:prstGeom prst="line">
            <a:avLst/>
          </a:prstGeom>
          <a:ln w="25400">
            <a:solidFill>
              <a:srgbClr val="1B2C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31520" y="4956048"/>
            <a:ext cx="502920" cy="502920"/>
          </a:xfrm>
          <a:prstGeom prst="ellipse">
            <a:avLst/>
          </a:prstGeom>
          <a:solidFill>
            <a:srgbClr val="1B2C52"/>
          </a:solidFill>
          <a:ln>
            <a:solidFill>
              <a:srgbClr val="1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04748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49469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B2C52"/>
                </a:solidFill>
                <a:latin typeface="Aptos"/>
              </a:rPr>
              <a:t>Produce final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946904"/>
            <a:ext cx="6812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tr outputs: HELLO OPERATING SYSTEM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79" y="5687568"/>
            <a:ext cx="3246120" cy="521207"/>
          </a:xfrm>
          <a:prstGeom prst="roundRect">
            <a:avLst/>
          </a:prstGeom>
          <a:solidFill>
            <a:srgbClr val="EFF9F4"/>
          </a:solidFill>
          <a:ln w="16510"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7" y="580644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D9767"/>
                </a:solidFill>
                <a:latin typeface="Aptos"/>
              </a:rPr>
              <a:t>HELLO OPERATING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7. Process Synchronization &amp;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969264"/>
            <a:ext cx="3474720" cy="416052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969264"/>
            <a:ext cx="64008" cy="4160520"/>
          </a:xfrm>
          <a:prstGeom prst="rect">
            <a:avLst/>
          </a:prstGeom>
          <a:solidFill>
            <a:srgbClr val="E58727"/>
          </a:solidFill>
          <a:ln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106424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Child 1 — producer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499616"/>
            <a:ext cx="3163824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2A3D"/>
                </a:solidFill>
                <a:latin typeface="Aptos"/>
              </a:rPr>
              <a:t>1. Inherits pipe descriptors
2. Redirects STDOUT with dup2()
3. Executes Command 1
4. Writes bytes into the pipe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969264"/>
            <a:ext cx="3474720" cy="416052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969264"/>
            <a:ext cx="64008" cy="4160520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106424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Child 2 — consumer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499616"/>
            <a:ext cx="3163824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2A3D"/>
                </a:solidFill>
                <a:latin typeface="Aptos"/>
              </a:rPr>
              <a:t>1. Inherits pipe descriptors
2. Redirects STDIN with dup2()
3. Executes Command 2
4. Reads bytes from the pipe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969264"/>
            <a:ext cx="3474720" cy="416052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969264"/>
            <a:ext cx="64008" cy="4160520"/>
          </a:xfrm>
          <a:prstGeom prst="rect">
            <a:avLst/>
          </a:prstGeom>
          <a:solidFill>
            <a:srgbClr val="1B2C52"/>
          </a:solidFill>
          <a:ln>
            <a:solidFill>
              <a:srgbClr val="1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106424"/>
            <a:ext cx="31638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Parent — orchestrator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499616"/>
            <a:ext cx="3163824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2A3D"/>
                </a:solidFill>
                <a:latin typeface="Aptos"/>
              </a:rPr>
              <a:t>1. Creates the pipe
2. Forks both children
3. Closes unused descriptors
4. Waits for both children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C52"/>
                </a:solidFill>
                <a:latin typeface="Aptos"/>
              </a:rPr>
              <a:t>Why the parent closes descriptors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5321808"/>
            <a:ext cx="7452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40" b="0">
                <a:solidFill>
                  <a:srgbClr val="1F2A3D"/>
                </a:solidFill>
                <a:latin typeface="Aptos"/>
              </a:rPr>
              <a:t>Closing unused descriptors prevents the pipe from remaining open unnecessarily and avoids blocking when the reader is waiting for end-of-input.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8. Test Cases, Tools &amp;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1440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B2C52"/>
                </a:solidFill>
                <a:latin typeface="Aptos"/>
              </a:rPr>
              <a:t>Test execution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63040"/>
            <a:ext cx="6446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63040"/>
            <a:ext cx="91440" cy="987552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7276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66D6"/>
                </a:solidFill>
                <a:latin typeface="Aptos"/>
              </a:rPr>
              <a:t>TEST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63624"/>
            <a:ext cx="5166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0" b="1">
                <a:solidFill>
                  <a:srgbClr val="1B2C52"/>
                </a:solidFill>
                <a:latin typeface="Courier New"/>
              </a:rPr>
              <a:t>ls -l | grep 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892808"/>
            <a:ext cx="5230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1F2A3D"/>
                </a:solidFill>
                <a:latin typeface="Aptos"/>
              </a:rPr>
              <a:t>Expected: Displays only lines matching .c from the directory listing.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88920"/>
            <a:ext cx="6446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788920"/>
            <a:ext cx="91440" cy="987552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89864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D9767"/>
                </a:solidFill>
                <a:latin typeface="Aptos"/>
              </a:rPr>
              <a:t>TEST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89503"/>
            <a:ext cx="5166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0" b="1">
                <a:solidFill>
                  <a:srgbClr val="1B2C52"/>
                </a:solidFill>
                <a:latin typeface="Courier New"/>
              </a:rPr>
              <a:t>cat /etc/passwd | wc -l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18687"/>
            <a:ext cx="5230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1F2A3D"/>
                </a:solidFill>
                <a:latin typeface="Aptos"/>
              </a:rPr>
              <a:t>Expected: Outputs an integer representing the number of lines in /etc/passwd.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114800"/>
            <a:ext cx="644652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114800"/>
            <a:ext cx="91440" cy="987552"/>
          </a:xfrm>
          <a:prstGeom prst="rect">
            <a:avLst/>
          </a:prstGeom>
          <a:solidFill>
            <a:srgbClr val="E58727"/>
          </a:solidFill>
          <a:ln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22452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58727"/>
                </a:solidFill>
                <a:latin typeface="Aptos"/>
              </a:rPr>
              <a:t>TEST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15384"/>
            <a:ext cx="5166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30" b="1">
                <a:solidFill>
                  <a:srgbClr val="1B2C52"/>
                </a:solidFill>
                <a:latin typeface="Courier New"/>
              </a:rPr>
              <a:t>echo "hello operating system" | tr a-z A-Z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44568"/>
            <a:ext cx="52303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1F2A3D"/>
                </a:solidFill>
                <a:latin typeface="Aptos"/>
              </a:rPr>
              <a:t>Expected: HELLO OPERATING SYSTEM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417320"/>
            <a:ext cx="4160520" cy="123444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1417320"/>
            <a:ext cx="64008" cy="1234440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1554480"/>
            <a:ext cx="3849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1947672"/>
            <a:ext cx="3849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2A3D"/>
                </a:solidFill>
                <a:latin typeface="Aptos"/>
              </a:rPr>
              <a:t>Unix/Linux terminal
C compiler / build environment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880360"/>
            <a:ext cx="4160520" cy="141732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2880360"/>
            <a:ext cx="64008" cy="1417320"/>
          </a:xfrm>
          <a:prstGeom prst="rect">
            <a:avLst/>
          </a:prstGeom>
          <a:solidFill>
            <a:srgbClr val="E58727"/>
          </a:solidFill>
          <a:ln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3017520"/>
            <a:ext cx="3849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Core system calls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410712"/>
            <a:ext cx="3849624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>
                <a:solidFill>
                  <a:srgbClr val="1F2A3D"/>
                </a:solidFill>
                <a:latin typeface="Aptos"/>
              </a:rPr>
              <a:t>pipe()   fork()   dup2()
execvp()   wait() / waitpid()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4553712"/>
            <a:ext cx="4160520" cy="109728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52360" y="4553712"/>
            <a:ext cx="64008" cy="1097280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4690872"/>
            <a:ext cx="384962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Expected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084064"/>
            <a:ext cx="3849624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70" b="0">
                <a:solidFill>
                  <a:srgbClr val="1F2A3D"/>
                </a:solidFill>
                <a:latin typeface="Aptos"/>
              </a:rPr>
              <a:t>Final output from Command 2 after the pipe is applied.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669280"/>
            <a:ext cx="10378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1B2C52"/>
                </a:solidFill>
                <a:latin typeface="Aptos"/>
              </a:rPr>
              <a:t>The test cases validate that Command 1 STDOUT is correctly wired to Command 2 STDIN.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9. Validation: What Each Test Proves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987552"/>
            <a:ext cx="3493008" cy="361188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987552"/>
            <a:ext cx="64008" cy="3611880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24712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Filtering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17904"/>
            <a:ext cx="3182112" cy="299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ls -l
   ↓
pipe
   ↓
grep .c
Proves that the directory-listing output is successfully passed to a filtering command.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987552"/>
            <a:ext cx="3493008" cy="361188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987552"/>
            <a:ext cx="64008" cy="3611880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124712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Counting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517904"/>
            <a:ext cx="3182112" cy="299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cat /etc/passwd
   ↓
pipe
   ↓
wc -l
Proves that the second command can consume all data from the first command and compute a result.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987552"/>
            <a:ext cx="3493008" cy="361188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987552"/>
            <a:ext cx="64008" cy="3611880"/>
          </a:xfrm>
          <a:prstGeom prst="rect">
            <a:avLst/>
          </a:prstGeom>
          <a:solidFill>
            <a:srgbClr val="E58727"/>
          </a:solidFill>
          <a:ln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124712"/>
            <a:ext cx="318211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Transformation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517904"/>
            <a:ext cx="3182112" cy="299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echo "hello..."
   ↓
pipe
   ↓
tr a-z A-Z
Proves that the second process receives the stream and transforms it correctly.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956048"/>
            <a:ext cx="10058400" cy="877824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138928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B2C52"/>
                </a:solidFill>
                <a:latin typeface="Aptos"/>
              </a:rPr>
              <a:t>Validation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111496"/>
            <a:ext cx="77266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0">
                <a:solidFill>
                  <a:srgbClr val="1F2A3D"/>
                </a:solidFill>
                <a:latin typeface="Aptos"/>
              </a:rPr>
              <a:t>✓ pipe created    ✓ two children forked    ✓ STDOUT/STDIN redirected    ✓ commands exec'd    ✓ parent waits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21792"/>
          </a:xfrm>
          <a:prstGeom prst="rect">
            <a:avLst/>
          </a:prstGeom>
          <a:solidFill>
            <a:srgbClr val="142344"/>
          </a:solidFill>
          <a:ln>
            <a:solidFill>
              <a:srgbClr val="142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9601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ptos"/>
              </a:rPr>
              <a:t>10. Final System &amp; Project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"/>
            <a:ext cx="14173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"/>
            <a:ext cx="12" cy="0"/>
          </a:xfrm>
          <a:prstGeom prst="rect">
            <a:avLst/>
          </a:prstGeom>
          <a:solidFill>
            <a:srgbClr val="D3DAE7"/>
          </a:solidFill>
          <a:ln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601968"/>
            <a:ext cx="274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65F70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005840"/>
            <a:ext cx="5166360" cy="1261872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005840"/>
            <a:ext cx="64008" cy="1261872"/>
          </a:xfrm>
          <a:prstGeom prst="rect">
            <a:avLst/>
          </a:prstGeom>
          <a:solidFill>
            <a:srgbClr val="2B66D6"/>
          </a:solidFill>
          <a:ln>
            <a:solidFill>
              <a:srgbClr val="2B6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143000"/>
            <a:ext cx="4855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Input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36192"/>
            <a:ext cx="4855464" cy="649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F2A3D"/>
                </a:solidFill>
                <a:latin typeface="Aptos"/>
              </a:rPr>
              <a:t>Two Linux commands are provided as the pipeline endpoints.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5166360" cy="1463040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68880"/>
            <a:ext cx="64008" cy="1463040"/>
          </a:xfrm>
          <a:prstGeom prst="rect">
            <a:avLst/>
          </a:prstGeom>
          <a:solidFill>
            <a:srgbClr val="E58727"/>
          </a:solidFill>
          <a:ln>
            <a:solidFill>
              <a:srgbClr val="E58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606040"/>
            <a:ext cx="4855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Communication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999232"/>
            <a:ext cx="4855464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>
                <a:solidFill>
                  <a:srgbClr val="1F2A3D"/>
                </a:solidFill>
                <a:latin typeface="Aptos"/>
              </a:rPr>
              <a:t>pipe() creates the anonymous channel; fork() creates the two child processes; dup2() connects STDOUT to STDIN.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33087"/>
            <a:ext cx="5166360" cy="1335024"/>
          </a:xfrm>
          <a:prstGeom prst="roundRect">
            <a:avLst/>
          </a:prstGeom>
          <a:solidFill>
            <a:srgbClr val="F0F4FB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133087"/>
            <a:ext cx="64008" cy="1335024"/>
          </a:xfrm>
          <a:prstGeom prst="rect">
            <a:avLst/>
          </a:prstGeom>
          <a:solidFill>
            <a:srgbClr val="2D9767"/>
          </a:solidFill>
          <a:ln>
            <a:solidFill>
              <a:srgbClr val="2D9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270248"/>
            <a:ext cx="4855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B2C52"/>
                </a:solidFill>
                <a:latin typeface="Aptos"/>
              </a:rPr>
              <a:t>Execution &amp; synchronization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663440"/>
            <a:ext cx="4855464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1F2A3D"/>
                </a:solidFill>
                <a:latin typeface="Aptos"/>
              </a:rPr>
              <a:t>execvp() runs each command; the parent closes descriptors and waits for both children with wait()/waitpid().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24128"/>
            <a:ext cx="5257800" cy="452628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D3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261872"/>
            <a:ext cx="4800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B2C52"/>
                </a:solidFill>
                <a:latin typeface="Aptos"/>
              </a:rPr>
              <a:t>PROJECT IN ONE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78308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2A3D"/>
                </a:solidFill>
                <a:latin typeface="Aptos"/>
              </a:rPr>
              <a:t>User commands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313432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48716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2A3D"/>
                </a:solidFill>
                <a:latin typeface="Aptos"/>
              </a:rPr>
              <a:t>Create pipe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788920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Courier New"/>
              </a:rPr>
              <a:t>pipe()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017520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191256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2A3D"/>
                </a:solidFill>
                <a:latin typeface="Aptos"/>
              </a:rPr>
              <a:t>Fork children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493008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Courier New"/>
              </a:rPr>
              <a:t>fork()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721607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895344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2A3D"/>
                </a:solidFill>
                <a:latin typeface="Aptos"/>
              </a:rPr>
              <a:t>Redirect I/O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97096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Courier New"/>
              </a:rPr>
              <a:t>dup2()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425696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599431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2A3D"/>
                </a:solidFill>
                <a:latin typeface="Aptos"/>
              </a:rPr>
              <a:t>Execute commands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901183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Courier New"/>
              </a:rPr>
              <a:t>execvp()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129783"/>
            <a:ext cx="32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B2C52"/>
                </a:solidFill>
                <a:latin typeface="Aptos"/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303519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F2A3D"/>
                </a:solidFill>
                <a:latin typeface="Aptos"/>
              </a:rPr>
              <a:t>Final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605271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565F70"/>
                </a:solidFill>
                <a:latin typeface="Courier New"/>
              </a:rPr>
              <a:t>Command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5925312"/>
            <a:ext cx="10378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80" b="1">
                <a:solidFill>
                  <a:srgbClr val="1B2C52"/>
                </a:solidFill>
                <a:latin typeface="Aptos"/>
              </a:rPr>
              <a:t>This project demonstrates IPC using anonymous pipes and implements shell-style command piping directly in 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